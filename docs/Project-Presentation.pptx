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162E55"/>
          </a:solidFill>
          <a:ln w="12700">
            <a:solidFill>
              <a:srgbClr val="162E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82296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 with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DevOps, GitOps, and AKS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Automating Software Deployment with Cloud-Native Tools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286000" y="3520440"/>
            <a:ext cx="7589520" cy="36576"/>
          </a:xfrm>
          <a:prstGeom prst="rect">
            <a:avLst/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749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42976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Chiemela Uwaga  |  Bolarinwa Gbenga Akinde  |  Ayobami Edun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Osahon Igbogbo  |  Emmanuel Ohuoha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54864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Cloudboosta Academy — AWS Cloud DevOps Training  |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Cover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749808"/>
            <a:ext cx="11430000" cy="36576"/>
          </a:xfrm>
          <a:prstGeom prst="rect">
            <a:avLst/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60120"/>
            <a:ext cx="411480" cy="41148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9601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969264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We Solved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1197864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deployments vs automated pipelines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0" y="923544"/>
            <a:ext cx="4937760" cy="512064"/>
          </a:xfrm>
          <a:prstGeom prst="rect">
            <a:avLst/>
          </a:prstGeom>
          <a:solidFill>
            <a:srgbClr val="F0F5FA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1673352"/>
            <a:ext cx="411480" cy="41148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16733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1682496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Technologies Explained Simply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1911096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tool does in plain English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386584"/>
            <a:ext cx="411480" cy="41148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38658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" y="2395728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4400" y="2624328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all the pieces connect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58000" y="2350008"/>
            <a:ext cx="4937760" cy="512064"/>
          </a:xfrm>
          <a:prstGeom prst="rect">
            <a:avLst/>
          </a:prstGeom>
          <a:solidFill>
            <a:srgbClr val="F0F5FA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3099816"/>
            <a:ext cx="411480" cy="41148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309981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31089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 Step by Step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14400" y="333756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apps, pipelines, and GitOps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65760" y="3813048"/>
            <a:ext cx="411480" cy="41148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81304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14400" y="382219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Measures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14400" y="405079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scan gates + Kubernetes hardening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58000" y="3776472"/>
            <a:ext cx="4937760" cy="512064"/>
          </a:xfrm>
          <a:prstGeom prst="rect">
            <a:avLst/>
          </a:prstGeom>
          <a:solidFill>
            <a:srgbClr val="F0F5FA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4526280"/>
            <a:ext cx="411480" cy="41148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526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14400" y="4535424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&amp; Disaster Recovery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14400" y="4764024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alerts, KQL queries, and the DR plan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5239512"/>
            <a:ext cx="411480" cy="41148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5239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14400" y="5248656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Learnings &amp; Conclusion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14400" y="5477256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Decisions, trade-offs, and what we achieved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858000" y="5202936"/>
            <a:ext cx="4937760" cy="512064"/>
          </a:xfrm>
          <a:prstGeom prst="rect">
            <a:avLst/>
          </a:prstGeom>
          <a:solidFill>
            <a:srgbClr val="F0F5FA"/>
          </a:solidFill>
          <a:ln w="12700">
            <a:solidFill>
              <a:srgbClr val="D5E8F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We Solved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749808"/>
            <a:ext cx="11430000" cy="36576"/>
          </a:xfrm>
          <a:prstGeom prst="rect">
            <a:avLst/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14400"/>
            <a:ext cx="5212080" cy="457200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91440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Manual Deployment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463040"/>
            <a:ext cx="50292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writes code
</a:t>
            </a:r>
            <a:endParaRPr lang="en-US" sz="1200" dirty="0"/>
          </a:p>
          <a:p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manually builds the app
</a:t>
            </a:r>
            <a:endParaRPr lang="en-US" sz="1200" dirty="0"/>
          </a:p>
          <a:p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manually copies files to the server
</a:t>
            </a:r>
            <a:endParaRPr lang="en-US" sz="1200" dirty="0"/>
          </a:p>
          <a:p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 nothing breaks
</a:t>
            </a:r>
            <a:endParaRPr lang="en-US" sz="1200" dirty="0"/>
          </a:p>
          <a:p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out something is broken when users complain
</a:t>
            </a:r>
            <a:endParaRPr lang="en-US" sz="1200" dirty="0"/>
          </a:p>
          <a:p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record of what changed or who did it
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06440" y="2560320"/>
            <a:ext cx="548640" cy="91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0" y="237744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6583680" y="914400"/>
            <a:ext cx="5212080" cy="457200"/>
          </a:xfrm>
          <a:prstGeom prst="rect">
            <a:avLst/>
          </a:prstGeom>
          <a:solidFill>
            <a:srgbClr val="1A7A3A"/>
          </a:solidFill>
          <a:ln w="12700">
            <a:solidFill>
              <a:srgbClr val="1A7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91440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AFTER: Our Automated Pipeline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75120" y="1463040"/>
            <a:ext cx="50292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pushes code to GitHub
</a:t>
            </a:r>
            <a:endParaRPr lang="en-US" sz="1200" dirty="0"/>
          </a:p>
          <a:p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happens automatically
</a:t>
            </a:r>
            <a:endParaRPr lang="en-US" sz="1200" dirty="0"/>
          </a:p>
          <a:p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checks run before anything deploys
</a:t>
            </a:r>
            <a:endParaRPr lang="en-US" sz="1200" dirty="0"/>
          </a:p>
          <a:p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is wrong, it stops and alerts the team
</a:t>
            </a:r>
            <a:endParaRPr lang="en-US" sz="1200" dirty="0"/>
          </a:p>
          <a:p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record of every change and every deployment
</a:t>
            </a:r>
            <a:endParaRPr lang="en-US" sz="1200" dirty="0"/>
          </a:p>
          <a:p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manual steps from code to running app
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5029200"/>
            <a:ext cx="11430000" cy="548640"/>
          </a:xfrm>
          <a:prstGeom prst="rect">
            <a:avLst/>
          </a:prstGeom>
          <a:solidFill>
            <a:srgbClr val="D5E8F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5047488"/>
            <a:ext cx="11247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called CI/CD — Continuous Integration and Continuous Delivery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CI/CD? (In Simple Terms)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749808"/>
            <a:ext cx="11430000" cy="36576"/>
          </a:xfrm>
          <a:prstGeom prst="rect">
            <a:avLst/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868680"/>
            <a:ext cx="11430000" cy="5029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86968"/>
            <a:ext cx="11247120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like a car factory assembly line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1554480"/>
            <a:ext cx="3749040" cy="4389120"/>
          </a:xfrm>
          <a:prstGeom prst="rect">
            <a:avLst/>
          </a:prstGeom>
          <a:solidFill>
            <a:srgbClr val="D5E8F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6459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(Continuous Integration)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331720"/>
            <a:ext cx="3383280" cy="274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468880"/>
            <a:ext cx="34747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time a developer saves their work, an automatic quality check runs.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 quality inspector at the factory checking each part before it goes on the line.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15968" y="1554480"/>
            <a:ext cx="3749040" cy="4389120"/>
          </a:xfrm>
          <a:prstGeom prst="rect">
            <a:avLst/>
          </a:prstGeom>
          <a:solidFill>
            <a:srgbClr val="D5E8F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07408" y="16459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(Continuous Delivery)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498848" y="2331720"/>
            <a:ext cx="3383280" cy="274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53128" y="2468880"/>
            <a:ext cx="34747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the quality checks pass, the new version is automatically packaged and ready to ship.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the factory automatically boxing up the finished product.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266176" y="1554480"/>
            <a:ext cx="3749040" cy="4389120"/>
          </a:xfrm>
          <a:prstGeom prst="rect">
            <a:avLst/>
          </a:prstGeom>
          <a:solidFill>
            <a:srgbClr val="D5E8F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57616" y="16459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49056" y="2331720"/>
            <a:ext cx="3383280" cy="274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03336" y="2468880"/>
            <a:ext cx="34747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'shipping instructions' live in GitHub. The system reads those instructions and makes sure what is running always matches what GitHub says.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someone changes something manually, it gets corrected automatically.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Kubernetes / AKS? (In Simple Terms)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749808"/>
            <a:ext cx="11430000" cy="36576"/>
          </a:xfrm>
          <a:prstGeom prst="rect">
            <a:avLst/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868680"/>
            <a:ext cx="11430000" cy="5029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86968"/>
            <a:ext cx="11247120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is like a hotel manager for applications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1554480"/>
            <a:ext cx="3749040" cy="4389120"/>
          </a:xfrm>
          <a:prstGeom prst="rect">
            <a:avLst/>
          </a:prstGeom>
          <a:solidFill>
            <a:srgbClr val="D5E8F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64592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Rooms = Containers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2331720"/>
            <a:ext cx="3474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application lives in its own isolated container — like a hotel guest in their own room.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in one room does not affect the others.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15968" y="1554480"/>
            <a:ext cx="3749040" cy="43891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07408" y="164592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= Kubernetes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53128" y="2331720"/>
            <a:ext cx="3474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guest's room has a problem, the manager finds them a new room automatically.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more guests arrive, the manager opens more rooms.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66176" y="1554480"/>
            <a:ext cx="3749040" cy="4389120"/>
          </a:xfrm>
          <a:prstGeom prst="rect">
            <a:avLst/>
          </a:prstGeom>
          <a:solidFill>
            <a:srgbClr val="D5E8F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57616" y="164592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AKS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403336" y="2331720"/>
            <a:ext cx="3474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manages the hotel building (the servers).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just tell it how many rooms we need and what goes in them.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Used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749808"/>
            <a:ext cx="11430000" cy="36576"/>
          </a:xfrm>
          <a:prstGeom prst="rect">
            <a:avLst/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868680"/>
            <a:ext cx="3474720" cy="34747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86200" y="868680"/>
            <a:ext cx="3657600" cy="34747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0" y="868680"/>
            <a:ext cx="4206240" cy="34747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8869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977640" y="886968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680960" y="886968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Used It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1261872"/>
            <a:ext cx="3474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1298448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Kubernetes Service (AKS)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886200" y="1261872"/>
            <a:ext cx="36576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77640" y="1298448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our applications on a managed cluster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589520" y="1261872"/>
            <a:ext cx="42062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0" y="1298448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by project; enterprise standard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5760" y="1920240"/>
            <a:ext cx="3474720" cy="621792"/>
          </a:xfrm>
          <a:prstGeom prst="rect">
            <a:avLst/>
          </a:prstGeom>
          <a:solidFill>
            <a:srgbClr val="F0F5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1956816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DevOps Pipelines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886200" y="1920240"/>
            <a:ext cx="3657600" cy="621792"/>
          </a:xfrm>
          <a:prstGeom prst="rect">
            <a:avLst/>
          </a:prstGeom>
          <a:solidFill>
            <a:srgbClr val="F0F5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77640" y="1956816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build and deploy process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589520" y="1920240"/>
            <a:ext cx="4206240" cy="621792"/>
          </a:xfrm>
          <a:prstGeom prst="rect">
            <a:avLst/>
          </a:prstGeom>
          <a:solidFill>
            <a:srgbClr val="F0F5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80960" y="1956816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by project; deep Azure integration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65760" y="2578608"/>
            <a:ext cx="3474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2615184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Container Registry (ACR)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886200" y="2578608"/>
            <a:ext cx="36576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77640" y="2615184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storage for Docker images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589520" y="2578608"/>
            <a:ext cx="42062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0" y="2615184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Azure integration; private and secure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65760" y="3236976"/>
            <a:ext cx="3474720" cy="621792"/>
          </a:xfrm>
          <a:prstGeom prst="rect">
            <a:avLst/>
          </a:prstGeom>
          <a:solidFill>
            <a:srgbClr val="F0F5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3273552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886200" y="3236976"/>
            <a:ext cx="3657600" cy="621792"/>
          </a:xfrm>
          <a:prstGeom prst="rect">
            <a:avLst/>
          </a:prstGeom>
          <a:solidFill>
            <a:srgbClr val="F0F5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977640" y="3273552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Watches GitHub; keeps cluster in sync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589520" y="3236976"/>
            <a:ext cx="4206240" cy="621792"/>
          </a:xfrm>
          <a:prstGeom prst="rect">
            <a:avLst/>
          </a:prstGeom>
          <a:solidFill>
            <a:srgbClr val="F0F5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0960" y="3273552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GitOps pull model; self-healing; UI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65760" y="3895344"/>
            <a:ext cx="3474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39319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Key Vault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3886200" y="3895344"/>
            <a:ext cx="36576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77640" y="393192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passwords and secrets safely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7589520" y="3895344"/>
            <a:ext cx="42062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80960" y="393192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never in code; audited access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65760" y="4553712"/>
            <a:ext cx="3474720" cy="621792"/>
          </a:xfrm>
          <a:prstGeom prst="rect">
            <a:avLst/>
          </a:prstGeom>
          <a:solidFill>
            <a:srgbClr val="F0F5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4590288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3886200" y="4553712"/>
            <a:ext cx="3657600" cy="621792"/>
          </a:xfrm>
          <a:prstGeom prst="rect">
            <a:avLst/>
          </a:prstGeom>
          <a:solidFill>
            <a:srgbClr val="F0F5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77640" y="4590288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apps into portable containers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7589520" y="4553712"/>
            <a:ext cx="4206240" cy="621792"/>
          </a:xfrm>
          <a:prstGeom prst="rect">
            <a:avLst/>
          </a:prstGeom>
          <a:solidFill>
            <a:srgbClr val="F0F5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80960" y="4590288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standard; runs identically everywhere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365760" y="5212080"/>
            <a:ext cx="3474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5248656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 / Checkov / Gitleaks / Semgrep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3886200" y="5212080"/>
            <a:ext cx="36576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77640" y="5248656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scanners in the pipeline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7589520" y="5212080"/>
            <a:ext cx="42062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80960" y="5248656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vulnerabilities before production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All Works Together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749808"/>
            <a:ext cx="11430000" cy="36576"/>
          </a:xfrm>
          <a:prstGeom prst="rect">
            <a:avLst/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14400"/>
            <a:ext cx="11430000" cy="4297680"/>
          </a:xfrm>
          <a:prstGeom prst="rect">
            <a:avLst/>
          </a:prstGeom>
          <a:solidFill>
            <a:srgbClr val="F0F0F0"/>
          </a:solidFill>
          <a:ln w="12700">
            <a:solidFill>
              <a:srgbClr val="AAAAAA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914400"/>
            <a:ext cx="1124712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[SCREENSHOT PLACEHOLDER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architecture diagram here]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534924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→ GitHub → Azure DevOps (CI: scan + build + scan) → Azure Container Registry → CD Pipeline (update manifests) → ArgoCD (sync) → AKS Cluster (deploy) → Live Applications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Deployed: Three Microservices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749808"/>
            <a:ext cx="11430000" cy="36576"/>
          </a:xfrm>
          <a:prstGeom prst="rect">
            <a:avLst/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86868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independent REST APIs — same function, three different programming languages. Proves the pipeline works for any language.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463040"/>
            <a:ext cx="3749040" cy="4480560"/>
          </a:xfrm>
          <a:prstGeom prst="rect">
            <a:avLst/>
          </a:prstGeom>
          <a:solidFill>
            <a:srgbClr val="D5E8F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55448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App (Flask)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103120"/>
            <a:ext cx="3383280" cy="27432"/>
          </a:xfrm>
          <a:prstGeom prst="rect">
            <a:avLst/>
          </a:prstGeom>
          <a:solidFill>
            <a:srgbClr val="1B3A6B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2402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Port: 5000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7432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Language: Python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24612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Framework: Flask + Gunicorn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7490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Endpoints: /, /health, /api/data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5394960"/>
            <a:ext cx="3383280" cy="27432"/>
          </a:xfrm>
          <a:prstGeom prst="rect">
            <a:avLst/>
          </a:prstGeom>
          <a:solidFill>
            <a:srgbClr val="1B3A6B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54864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replicas running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315968" y="1463040"/>
            <a:ext cx="3749040" cy="4480560"/>
          </a:xfrm>
          <a:prstGeom prst="rect">
            <a:avLst/>
          </a:prstGeom>
          <a:solidFill>
            <a:srgbClr val="1A4A8A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07408" y="155448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App (Express)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98848" y="2103120"/>
            <a:ext cx="3383280" cy="27432"/>
          </a:xfrm>
          <a:prstGeom prst="rect">
            <a:avLst/>
          </a:prstGeom>
          <a:solidFill>
            <a:srgbClr val="AABB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98848" y="22402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Port: 3000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98848" y="27432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Language: JavaScript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498848" y="324612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Framework: Express.js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498848" y="37490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Endpoints: /, /health, /api/data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498848" y="5394960"/>
            <a:ext cx="3383280" cy="27432"/>
          </a:xfrm>
          <a:prstGeom prst="rect">
            <a:avLst/>
          </a:prstGeom>
          <a:solidFill>
            <a:srgbClr val="AABB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07408" y="54864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replicas running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266176" y="1463040"/>
            <a:ext cx="3749040" cy="44805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57616" y="155448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App (ASP.NET Core)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449056" y="2103120"/>
            <a:ext cx="3383280" cy="27432"/>
          </a:xfrm>
          <a:prstGeom prst="rect">
            <a:avLst/>
          </a:prstGeom>
          <a:solidFill>
            <a:srgbClr val="AABB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49056" y="22402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Port: 8080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449056" y="27432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Language: C#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449056" y="324612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Framework: ASP.NET Core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449056" y="37490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Endpoints: /, /health, /api/data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449056" y="5394960"/>
            <a:ext cx="3383280" cy="27432"/>
          </a:xfrm>
          <a:prstGeom prst="rect">
            <a:avLst/>
          </a:prstGeom>
          <a:solidFill>
            <a:srgbClr val="AABB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57616" y="54864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replicas running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Setting Up the Infrastructure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749808"/>
            <a:ext cx="11430000" cy="36576"/>
          </a:xfrm>
          <a:prstGeom prst="rect">
            <a:avLst/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60120"/>
            <a:ext cx="457200" cy="45720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960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950976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to Azure (az login)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12161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Authenticates the team to the Azure subscription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1783080"/>
            <a:ext cx="457200" cy="45720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1773936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Resource Group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60120" y="203911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rg-gitops-project in Azure East US — logical container for all resources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2606040"/>
            <a:ext cx="457200" cy="45720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606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0120" y="2596896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Azure Container Registry (ACR)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60120" y="286207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acrgitopsproject — our private image warehouse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5760" y="3429000"/>
            <a:ext cx="457200" cy="45720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429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60120" y="3419856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AKS Cluster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60120" y="368503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nodes (Standard_B2s), monitoring enabled, ACR attached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5760" y="4251960"/>
            <a:ext cx="457200" cy="45720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251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60120" y="4242816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kubectl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60120" y="450799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cluster credentials so kubectl commands work from the terminal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65760" y="5074920"/>
            <a:ext cx="457200" cy="45720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5074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60120" y="5065776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Azure Key Vault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60120" y="53309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kv-gitops-project — stores ArgoCD password and GitHub token securely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577840" y="914400"/>
            <a:ext cx="6217920" cy="5029200"/>
          </a:xfrm>
          <a:prstGeom prst="rect">
            <a:avLst/>
          </a:prstGeom>
          <a:solidFill>
            <a:srgbClr val="F0F0F0"/>
          </a:solidFill>
          <a:ln w="12700">
            <a:solidFill>
              <a:srgbClr val="AAAAAA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5669280" y="914400"/>
            <a:ext cx="603504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[SCREENSHOT PLACEHOLDER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 cluster showing 3 Ready nodes]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Installing ArgoCD (The GitOps Engine)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749808"/>
            <a:ext cx="11430000" cy="36576"/>
          </a:xfrm>
          <a:prstGeom prst="rect">
            <a:avLst/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14400"/>
            <a:ext cx="5486400" cy="3200400"/>
          </a:xfrm>
          <a:prstGeom prst="rect">
            <a:avLst/>
          </a:prstGeom>
          <a:solidFill>
            <a:srgbClr val="D5E8F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058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ArgoCD?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417320"/>
            <a:ext cx="53035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is the bridge between GitHub and the Kubernetes cluster.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continuously watches our GitHub repository. When it sees a change in the deployment files, it automatically applies that change to the cluster — no human needed.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called a GitOps pull model.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035040" y="96012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Steps: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35040" y="1325880"/>
            <a:ext cx="347472" cy="34747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13258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46520" y="1344168"/>
            <a:ext cx="5349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ArgoCD into the cluster (kubectl apply)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1847088"/>
            <a:ext cx="347472" cy="34747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35040" y="184708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46520" y="1865376"/>
            <a:ext cx="5349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the ArgoCD web UI (LoadBalancer service)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2368296"/>
            <a:ext cx="347472" cy="34747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0" y="236829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46520" y="2386584"/>
            <a:ext cx="5349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the admin password and store in Key Vault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35040" y="2889504"/>
            <a:ext cx="347472" cy="34747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35040" y="288950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46520" y="2907792"/>
            <a:ext cx="5349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our GitHub repository to ArgoCD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035040" y="3410712"/>
            <a:ext cx="347472" cy="34747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35040" y="341071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46520" y="3429000"/>
            <a:ext cx="5349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ArgoCD Application and Project definitions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297680"/>
            <a:ext cx="11430000" cy="502920"/>
          </a:xfrm>
          <a:prstGeom prst="rect">
            <a:avLst/>
          </a:prstGeom>
          <a:solidFill>
            <a:srgbClr val="1A7A3A"/>
          </a:solidFill>
          <a:ln w="12700">
            <a:solidFill>
              <a:srgbClr val="1A7A3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4315968"/>
            <a:ext cx="11247120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Self-healing: if anyone manually changes the cluster, ArgoCD reverts it back to what GitHub says — within 3 minutes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4937760"/>
            <a:ext cx="11430000" cy="1737360"/>
          </a:xfrm>
          <a:prstGeom prst="rect">
            <a:avLst/>
          </a:prstGeom>
          <a:solidFill>
            <a:srgbClr val="F0F0F0"/>
          </a:solidFill>
          <a:ln w="12700">
            <a:solidFill>
              <a:srgbClr val="AAAAAA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[SCREENSHOT PLACEHOLDER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dashboard showing Synced + Healthy]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The CI Pipeline — Security Before Anything Deploys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749808"/>
            <a:ext cx="11430000" cy="36576"/>
          </a:xfrm>
          <a:prstGeom prst="rect">
            <a:avLst/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914400"/>
            <a:ext cx="1874520" cy="640080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91440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Gitleaks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148840" y="1005840"/>
            <a:ext cx="1645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1645920"/>
            <a:ext cx="1874520" cy="2011680"/>
          </a:xfrm>
          <a:prstGeom prst="rect">
            <a:avLst/>
          </a:prstGeom>
          <a:solidFill>
            <a:srgbClr val="F8F8F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691640"/>
            <a:ext cx="17830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for passwords accidentally committed to code.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if found.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267712" y="914400"/>
            <a:ext cx="1874520" cy="640080"/>
          </a:xfrm>
          <a:prstGeom prst="rect">
            <a:avLst/>
          </a:prstGeom>
          <a:solidFill>
            <a:srgbClr val="CC6600"/>
          </a:solidFill>
          <a:ln w="12700">
            <a:solidFill>
              <a:srgbClr val="CC66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67712" y="91440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Checkov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42232" y="1005840"/>
            <a:ext cx="1645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267712" y="1645920"/>
            <a:ext cx="1874520" cy="2011680"/>
          </a:xfrm>
          <a:prstGeom prst="rect">
            <a:avLst/>
          </a:prstGeom>
          <a:solidFill>
            <a:srgbClr val="F8F8F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13432" y="1691640"/>
            <a:ext cx="17830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Kubernetes config files for misconfigurations.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on HIGH/CRITICAL.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261104" y="914400"/>
            <a:ext cx="1874520" cy="640080"/>
          </a:xfrm>
          <a:prstGeom prst="rect">
            <a:avLst/>
          </a:prstGeom>
          <a:solidFill>
            <a:srgbClr val="CC9900"/>
          </a:solidFill>
          <a:ln w="12700">
            <a:solidFill>
              <a:srgbClr val="CC99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61104" y="91440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Semgrep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35624" y="1005840"/>
            <a:ext cx="1645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261104" y="1645920"/>
            <a:ext cx="1874520" cy="2011680"/>
          </a:xfrm>
          <a:prstGeom prst="rect">
            <a:avLst/>
          </a:prstGeom>
          <a:solidFill>
            <a:srgbClr val="F8F8F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06824" y="1691640"/>
            <a:ext cx="17830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application code for insecure patterns.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on errors.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254496" y="914400"/>
            <a:ext cx="1874520" cy="640080"/>
          </a:xfrm>
          <a:prstGeom prst="rect">
            <a:avLst/>
          </a:prstGeom>
          <a:solidFill>
            <a:srgbClr val="336699"/>
          </a:solidFill>
          <a:ln w="12700">
            <a:solidFill>
              <a:srgbClr val="3366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4496" y="91440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3 Images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(parallel)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129016" y="1005840"/>
            <a:ext cx="1645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254496" y="1645920"/>
            <a:ext cx="1874520" cy="2011680"/>
          </a:xfrm>
          <a:prstGeom prst="rect">
            <a:avLst/>
          </a:prstGeom>
          <a:solidFill>
            <a:srgbClr val="F8F8F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0216" y="1691640"/>
            <a:ext cx="17830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Node.js, .NET built simultaneously.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247888" y="914400"/>
            <a:ext cx="1874520" cy="640080"/>
          </a:xfrm>
          <a:prstGeom prst="rect">
            <a:avLst/>
          </a:prstGeom>
          <a:solidFill>
            <a:srgbClr val="CC6600"/>
          </a:solidFill>
          <a:ln w="12700">
            <a:solidFill>
              <a:srgbClr val="CC66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47888" y="91440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 Scan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122408" y="1005840"/>
            <a:ext cx="1645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247888" y="1645920"/>
            <a:ext cx="1874520" cy="2011680"/>
          </a:xfrm>
          <a:prstGeom prst="rect">
            <a:avLst/>
          </a:prstGeom>
          <a:solidFill>
            <a:srgbClr val="F8F8F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93608" y="1691640"/>
            <a:ext cx="17830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 scan before pushing.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on CRITICAL/HIGH.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10241280" y="914400"/>
            <a:ext cx="1874520" cy="640080"/>
          </a:xfrm>
          <a:prstGeom prst="rect">
            <a:avLst/>
          </a:prstGeom>
          <a:solidFill>
            <a:srgbClr val="1A7A3A"/>
          </a:solidFill>
          <a:ln w="12700">
            <a:solidFill>
              <a:srgbClr val="1A7A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241280" y="91440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to ACR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241280" y="1645920"/>
            <a:ext cx="1874520" cy="2011680"/>
          </a:xfrm>
          <a:prstGeom prst="rect">
            <a:avLst/>
          </a:prstGeom>
          <a:solidFill>
            <a:srgbClr val="F8F8F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287000" y="1691640"/>
            <a:ext cx="17830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ALL scans pass.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Tagged with Build ID, never :latest.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74320" y="3840480"/>
            <a:ext cx="11612880" cy="5029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858768"/>
            <a:ext cx="11430000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vulnerable image NEVER reaches the registry. The pipeline stops it first.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74320" y="4434840"/>
            <a:ext cx="11612880" cy="2194560"/>
          </a:xfrm>
          <a:prstGeom prst="rect">
            <a:avLst/>
          </a:prstGeom>
          <a:solidFill>
            <a:srgbClr val="F0F0F0"/>
          </a:solidFill>
          <a:ln w="12700">
            <a:solidFill>
              <a:srgbClr val="AAAAAA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365760" y="4434840"/>
            <a:ext cx="114300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[SCREENSHOT PLACEHOLDER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DevOps pipeline showing all green stages]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The CD Pipeline — Deploying to the Cluster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749808"/>
            <a:ext cx="11430000" cy="36576"/>
          </a:xfrm>
          <a:prstGeom prst="rect">
            <a:avLst/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14400"/>
            <a:ext cx="3749040" cy="4114800"/>
          </a:xfrm>
          <a:prstGeom prst="rect">
            <a:avLst/>
          </a:prstGeom>
          <a:solidFill>
            <a:srgbClr val="D5E8F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28800" y="960120"/>
            <a:ext cx="640080" cy="64008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28800" y="960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169164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Secrets from Key Vault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2286000"/>
            <a:ext cx="34747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fetches the ArgoCD password and GitHub token from Azure Key Vault.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secrets never appear in code, config files, or pipeline logs.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0" y="2560320"/>
            <a:ext cx="201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15968" y="914400"/>
            <a:ext cx="3749040" cy="4114800"/>
          </a:xfrm>
          <a:prstGeom prst="rect">
            <a:avLst/>
          </a:prstGeom>
          <a:solidFill>
            <a:srgbClr val="D5E8F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79008" y="960120"/>
            <a:ext cx="640080" cy="64008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79008" y="960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407408" y="169164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Kubernetes Manifests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453128" y="2286000"/>
            <a:ext cx="34747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automatically updates the image tag in the deployment files from the old build ID to the new one.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change is committed back to GitHub.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065008" y="2560320"/>
            <a:ext cx="201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8266176" y="914400"/>
            <a:ext cx="3749040" cy="4114800"/>
          </a:xfrm>
          <a:prstGeom prst="rect">
            <a:avLst/>
          </a:prstGeom>
          <a:solidFill>
            <a:srgbClr val="D5E8F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729216" y="960120"/>
            <a:ext cx="640080" cy="64008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29216" y="960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57616" y="169164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ArgoCD Sync + Wait for Health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403336" y="2286000"/>
            <a:ext cx="34747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detects the Git change and applies it to the cluster.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waits up to 3 minutes — it only reports SUCCESS when all pods are actually running and healthy.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51663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journey: code push → scan → build → scan → push → update Git → sync cluster → healthy pods. Fully automated.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5623560"/>
            <a:ext cx="11430000" cy="1005840"/>
          </a:xfrm>
          <a:prstGeom prst="rect">
            <a:avLst/>
          </a:prstGeom>
          <a:solidFill>
            <a:srgbClr val="F0F0F0"/>
          </a:solidFill>
          <a:ln w="12700">
            <a:solidFill>
              <a:srgbClr val="AAAAAA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457200" y="562356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[SCREENSHOT PLACEHOLDER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pipeline stages all green with sync successful]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Security: What We Hardened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749808"/>
            <a:ext cx="11430000" cy="36576"/>
          </a:xfrm>
          <a:prstGeom prst="rect">
            <a:avLst/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5394960" cy="365760"/>
          </a:xfrm>
          <a:prstGeom prst="rect">
            <a:avLst/>
          </a:prstGeom>
          <a:solidFill>
            <a:srgbClr val="1B3A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Security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539496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9144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Security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1325880"/>
            <a:ext cx="5394960" cy="685800"/>
          </a:xfrm>
          <a:prstGeom prst="rect">
            <a:avLst/>
          </a:prstGeom>
          <a:solidFill>
            <a:srgbClr val="D5E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353312"/>
            <a:ext cx="512064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Non-root user: containers run as UID 1001, never as root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103120"/>
            <a:ext cx="5394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130552"/>
            <a:ext cx="512064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filesystem: nothing can write to the container disk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880360"/>
            <a:ext cx="5394960" cy="685800"/>
          </a:xfrm>
          <a:prstGeom prst="rect">
            <a:avLst/>
          </a:prstGeom>
          <a:solidFill>
            <a:srgbClr val="D5E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907792"/>
            <a:ext cx="512064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privilege escalation: process cannot gain more OS permissions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657600"/>
            <a:ext cx="5394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685032"/>
            <a:ext cx="512064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Linux capabilities dropped: minimum possible OS access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4434840"/>
            <a:ext cx="5394960" cy="685800"/>
          </a:xfrm>
          <a:prstGeom prst="rect">
            <a:avLst/>
          </a:prstGeom>
          <a:solidFill>
            <a:srgbClr val="D5E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4462272"/>
            <a:ext cx="512064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Seccomp profile: 45+ dangerous system calls blocked at kernel level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26480" y="914400"/>
            <a:ext cx="5669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91440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Security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26480" y="1325880"/>
            <a:ext cx="5669280" cy="685800"/>
          </a:xfrm>
          <a:prstGeom prst="rect">
            <a:avLst/>
          </a:prstGeom>
          <a:solidFill>
            <a:srgbClr val="D5E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63640" y="1353312"/>
            <a:ext cx="539496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ServiceAccount per app (no cluster API access)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26480" y="2103120"/>
            <a:ext cx="56692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63640" y="2130552"/>
            <a:ext cx="539496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Default-deny NetworkPolicy (pods cannot talk to each other)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26480" y="2880360"/>
            <a:ext cx="5669280" cy="685800"/>
          </a:xfrm>
          <a:prstGeom prst="rect">
            <a:avLst/>
          </a:prstGeom>
          <a:solidFill>
            <a:srgbClr val="D5E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63640" y="2907792"/>
            <a:ext cx="539496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in Azure Key Vault (never in code or config)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26480" y="3657600"/>
            <a:ext cx="56692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63640" y="3685032"/>
            <a:ext cx="539496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ResourceQuota + LimitRange (prevents resource exhaustion)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26480" y="4434840"/>
            <a:ext cx="5669280" cy="685800"/>
          </a:xfrm>
          <a:prstGeom prst="rect">
            <a:avLst/>
          </a:prstGeom>
          <a:solidFill>
            <a:srgbClr val="D5E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63640" y="4462272"/>
            <a:ext cx="539496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AppProject scoped to microservices namespace only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Security Gates — Shift Left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749808"/>
            <a:ext cx="11430000" cy="36576"/>
          </a:xfrm>
          <a:prstGeom prst="rect">
            <a:avLst/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runs BEFORE build. A vulnerable image never reaches the registry.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2834640" cy="46634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71600" y="1417320"/>
            <a:ext cx="822960" cy="822960"/>
          </a:xfrm>
          <a:prstGeom prst="ellipse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0" y="14173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233172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Gitleaks v8.18.4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8346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scans: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3108960"/>
            <a:ext cx="2651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every committed file for secrets: API keys, passwords, tokens, private keys.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34340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When: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459028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build begins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4937760"/>
            <a:ext cx="2743200" cy="320040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49377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Blocks: CRITICAL: committed secrets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28416" y="1371600"/>
            <a:ext cx="2834640" cy="46634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34256" y="1417320"/>
            <a:ext cx="822960" cy="822960"/>
          </a:xfrm>
          <a:prstGeom prst="ellipse">
            <a:avLst/>
          </a:prstGeom>
          <a:solidFill>
            <a:srgbClr val="CC6600"/>
          </a:solidFill>
          <a:ln w="12700">
            <a:solidFill>
              <a:srgbClr val="CC66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34256" y="14173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74136" y="233172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Checkov 3.2.0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19856" y="28346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scans: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419856" y="3108960"/>
            <a:ext cx="2651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 Kubernetes YAML manifests for misconfigurations: no resource limits, privileged containers, missing security context.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19856" y="434340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When: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19856" y="459028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build begins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374136" y="4937760"/>
            <a:ext cx="2743200" cy="320040"/>
          </a:xfrm>
          <a:prstGeom prst="rect">
            <a:avLst/>
          </a:prstGeom>
          <a:solidFill>
            <a:srgbClr val="CC6600"/>
          </a:solidFill>
          <a:ln w="12700">
            <a:solidFill>
              <a:srgbClr val="CC66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74136" y="49377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Blocks: HIGH and CRITICAL findings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291072" y="1371600"/>
            <a:ext cx="2834640" cy="46634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96912" y="1417320"/>
            <a:ext cx="822960" cy="822960"/>
          </a:xfrm>
          <a:prstGeom prst="ellipse">
            <a:avLst/>
          </a:prstGeom>
          <a:solidFill>
            <a:srgbClr val="996600"/>
          </a:solidFill>
          <a:ln w="12700">
            <a:solidFill>
              <a:srgbClr val="9966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96912" y="14173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336792" y="233172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Semgrep 1.72.0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382512" y="28346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scans: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82512" y="3108960"/>
            <a:ext cx="2651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application source code for insecure patterns: SQL injection, command injection, hardcoded secrets.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382512" y="434340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When: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382512" y="459028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build begins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36792" y="4937760"/>
            <a:ext cx="2743200" cy="320040"/>
          </a:xfrm>
          <a:prstGeom prst="rect">
            <a:avLst/>
          </a:prstGeom>
          <a:solidFill>
            <a:srgbClr val="996600"/>
          </a:solidFill>
          <a:ln w="12700">
            <a:solidFill>
              <a:srgbClr val="9966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36792" y="49377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Blocks: Error-level findings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253728" y="1371600"/>
            <a:ext cx="2834640" cy="46634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259568" y="1417320"/>
            <a:ext cx="822960" cy="822960"/>
          </a:xfrm>
          <a:prstGeom prst="ellipse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259568" y="14173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9299448" y="233172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 0.50.4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9345168" y="28346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scans: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345168" y="3108960"/>
            <a:ext cx="2651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the built Docker image for known CVEs (Common Vulnerabilities and Exposures) in OS packages and libraries.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9345168" y="434340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When: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345168" y="459028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build, before push to ACR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299448" y="4937760"/>
            <a:ext cx="2743200" cy="320040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299448" y="49377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Blocks: CRITICAL and HIGH CVEs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Management — Azure Key Vault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749808"/>
            <a:ext cx="11430000" cy="36576"/>
          </a:xfrm>
          <a:prstGeom prst="rect">
            <a:avLst/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14400"/>
            <a:ext cx="11430000" cy="502920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32688"/>
            <a:ext cx="11247120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Secrets never appear in code, pipeline YAML, Kubernetes manifests, or Git history. Ever.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554480"/>
            <a:ext cx="3749040" cy="4389120"/>
          </a:xfrm>
          <a:prstGeom prst="rect">
            <a:avLst/>
          </a:prstGeom>
          <a:solidFill>
            <a:srgbClr val="D5E8F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554480"/>
            <a:ext cx="3749040" cy="4572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55448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Store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210312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ArgoCD admin password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278892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GitHub Personal Access Token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02920" y="347472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Nothing else — minimum secrets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15968" y="1554480"/>
            <a:ext cx="3749040" cy="4389120"/>
          </a:xfrm>
          <a:prstGeom prst="rect">
            <a:avLst/>
          </a:prstGeom>
          <a:solidFill>
            <a:srgbClr val="D5E8F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15968" y="1554480"/>
            <a:ext cx="3749040" cy="4572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5968" y="155448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Key Vault?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453128" y="210312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Access controlled by Azure RBAC separately from DevOps project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453128" y="278892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read is logged in Azure Monitor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453128" y="347472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Rotate secrets without changing pipeline code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453128" y="416052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Less than $1/month cost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266176" y="1554480"/>
            <a:ext cx="3749040" cy="4389120"/>
          </a:xfrm>
          <a:prstGeom prst="rect">
            <a:avLst/>
          </a:prstGeom>
          <a:solidFill>
            <a:srgbClr val="D5E8F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66176" y="1554480"/>
            <a:ext cx="3749040" cy="4572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66176" y="155448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403336" y="210312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CD pipeline uses AzureKeyVault@2 task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403336" y="278892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Fetches secrets at runtime only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03336" y="347472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Secrets exist in memory for the pipeline step duration only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403336" y="416052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Never written to disk or logs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Security Hardening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749808"/>
            <a:ext cx="11430000" cy="36576"/>
          </a:xfrm>
          <a:prstGeom prst="rect">
            <a:avLst/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868680"/>
            <a:ext cx="329184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886968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Control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11880" y="868680"/>
            <a:ext cx="347472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0" y="886968"/>
            <a:ext cx="3383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It Mitigates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132320" y="868680"/>
            <a:ext cx="42976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78040" y="886968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1280160"/>
            <a:ext cx="32918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" y="1316736"/>
            <a:ext cx="3145536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Non-root user (UID 1001)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11880" y="1280160"/>
            <a:ext cx="34747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85032" y="1316736"/>
            <a:ext cx="3328416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escape — root in container = root on host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32320" y="1280160"/>
            <a:ext cx="42976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05472" y="1316736"/>
            <a:ext cx="4151376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process escapes the container, it has no OS privileges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2103120"/>
            <a:ext cx="3291840" cy="749808"/>
          </a:xfrm>
          <a:prstGeom prst="rect">
            <a:avLst/>
          </a:prstGeom>
          <a:solidFill>
            <a:srgbClr val="F0F5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7472" y="2139696"/>
            <a:ext cx="3145536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root filesystem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11880" y="2103120"/>
            <a:ext cx="3474720" cy="749808"/>
          </a:xfrm>
          <a:prstGeom prst="rect">
            <a:avLst/>
          </a:prstGeom>
          <a:solidFill>
            <a:srgbClr val="F0F5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85032" y="2139696"/>
            <a:ext cx="3328416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persistence — writing scripts/binaries to disk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132320" y="2103120"/>
            <a:ext cx="4297680" cy="749808"/>
          </a:xfrm>
          <a:prstGeom prst="rect">
            <a:avLst/>
          </a:prstGeom>
          <a:solidFill>
            <a:srgbClr val="F0F5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205472" y="2139696"/>
            <a:ext cx="4151376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can be written to the container filesystem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74320" y="2926080"/>
            <a:ext cx="32918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472" y="2962656"/>
            <a:ext cx="3145536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ALL capabilities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611880" y="2926080"/>
            <a:ext cx="34747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85032" y="2962656"/>
            <a:ext cx="3328416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exploits via privileged system calls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132320" y="2926080"/>
            <a:ext cx="42976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05472" y="2962656"/>
            <a:ext cx="4151376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has minimum possible OS permissions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74320" y="3749040"/>
            <a:ext cx="3291840" cy="749808"/>
          </a:xfrm>
          <a:prstGeom prst="rect">
            <a:avLst/>
          </a:prstGeom>
          <a:solidFill>
            <a:srgbClr val="F0F5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7472" y="3785616"/>
            <a:ext cx="3145536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Seccomp RuntimeDefault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611880" y="3749040"/>
            <a:ext cx="3474720" cy="749808"/>
          </a:xfrm>
          <a:prstGeom prst="rect">
            <a:avLst/>
          </a:prstGeom>
          <a:solidFill>
            <a:srgbClr val="F0F5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85032" y="3785616"/>
            <a:ext cx="3328416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45+ dangerous system calls (ptrace, mount, etc.)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132320" y="3749040"/>
            <a:ext cx="4297680" cy="749808"/>
          </a:xfrm>
          <a:prstGeom prst="rect">
            <a:avLst/>
          </a:prstGeom>
          <a:solidFill>
            <a:srgbClr val="F0F5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5472" y="3785616"/>
            <a:ext cx="4151376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blocks dangerous calls at the hardware level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274320" y="4572000"/>
            <a:ext cx="32918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7472" y="4608576"/>
            <a:ext cx="3145536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Default-deny NetworkPolicy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3611880" y="4572000"/>
            <a:ext cx="34747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85032" y="4608576"/>
            <a:ext cx="3328416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movement — compromised pod reaches others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7132320" y="4572000"/>
            <a:ext cx="42976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05472" y="4608576"/>
            <a:ext cx="4151376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 cannot communicate unless explicitly allowed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274320" y="5394960"/>
            <a:ext cx="3291840" cy="749808"/>
          </a:xfrm>
          <a:prstGeom prst="rect">
            <a:avLst/>
          </a:prstGeom>
          <a:solidFill>
            <a:srgbClr val="F0F5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7472" y="5431536"/>
            <a:ext cx="3145536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automountServiceAccountToken: false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3611880" y="5394960"/>
            <a:ext cx="3474720" cy="749808"/>
          </a:xfrm>
          <a:prstGeom prst="rect">
            <a:avLst/>
          </a:prstGeom>
          <a:solidFill>
            <a:srgbClr val="F0F5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5032" y="5431536"/>
            <a:ext cx="3328416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API access from compromised pod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7132320" y="5394960"/>
            <a:ext cx="4297680" cy="749808"/>
          </a:xfrm>
          <a:prstGeom prst="rect">
            <a:avLst/>
          </a:prstGeom>
          <a:solidFill>
            <a:srgbClr val="F0F5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05472" y="5431536"/>
            <a:ext cx="4151376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cannot enumerate cluster resources or create new pods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and Observability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749808"/>
            <a:ext cx="11430000" cy="36576"/>
          </a:xfrm>
          <a:prstGeom prst="rect">
            <a:avLst/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868680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automated alert rules + 9 pre-built KQL queries — all in Azure Monitor / Log Analytics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3749040" cy="2011680"/>
          </a:xfrm>
          <a:prstGeom prst="rect">
            <a:avLst/>
          </a:prstGeom>
          <a:solidFill>
            <a:srgbClr val="D5E8F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371600"/>
            <a:ext cx="3749040" cy="41148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" y="1399032"/>
            <a:ext cx="3017520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Restart Count &gt; 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29000" y="1417320"/>
            <a:ext cx="640080" cy="320040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41732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 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184708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5 minutes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2121408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CrashLoopBackOff — app is failing to start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15968" y="1371600"/>
            <a:ext cx="3749040" cy="2011680"/>
          </a:xfrm>
          <a:prstGeom prst="rect">
            <a:avLst/>
          </a:prstGeom>
          <a:solidFill>
            <a:srgbClr val="D5E8F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15968" y="1371600"/>
            <a:ext cx="3749040" cy="41148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0" y="1399032"/>
            <a:ext cx="3017520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CPU &gt; 80%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79208" y="1417320"/>
            <a:ext cx="640080" cy="320040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79208" y="141732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 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407408" y="184708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5 minutes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407408" y="2121408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before pod throttling occurs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266176" y="1371600"/>
            <a:ext cx="3749040" cy="2011680"/>
          </a:xfrm>
          <a:prstGeom prst="rect">
            <a:avLst/>
          </a:prstGeom>
          <a:solidFill>
            <a:srgbClr val="D5E8F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66176" y="1371600"/>
            <a:ext cx="3749040" cy="41148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39328" y="1399032"/>
            <a:ext cx="3017520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Memory &gt; 85%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1329416" y="1417320"/>
            <a:ext cx="640080" cy="320040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329416" y="141732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 2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357616" y="184708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5 minutes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57616" y="2121408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before OOMKill terminates pods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3566160"/>
            <a:ext cx="3749040" cy="2011680"/>
          </a:xfrm>
          <a:prstGeom prst="rect">
            <a:avLst/>
          </a:prstGeom>
          <a:solidFill>
            <a:srgbClr val="D5E8F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566160"/>
            <a:ext cx="3749040" cy="41148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912" y="3593592"/>
            <a:ext cx="3017520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CPU &gt; 90%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429000" y="3611880"/>
            <a:ext cx="640080" cy="320040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29000" y="36118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 3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57200" y="404164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limit, 5 min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4315968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degradation; throttling active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315968" y="3566160"/>
            <a:ext cx="3749040" cy="2011680"/>
          </a:xfrm>
          <a:prstGeom prst="rect">
            <a:avLst/>
          </a:prstGeom>
          <a:solidFill>
            <a:srgbClr val="D5E8F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5968" y="3566160"/>
            <a:ext cx="3749040" cy="41148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89120" y="3593592"/>
            <a:ext cx="3017520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Memory &gt; 90%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379208" y="3611880"/>
            <a:ext cx="640080" cy="320040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79208" y="36118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 2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407408" y="404164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limit, 5 min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407408" y="4315968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OOMKill imminent — pod will be killed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266176" y="3566160"/>
            <a:ext cx="3749040" cy="2011680"/>
          </a:xfrm>
          <a:prstGeom prst="rect">
            <a:avLst/>
          </a:prstGeom>
          <a:solidFill>
            <a:srgbClr val="D5E8F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266176" y="3566160"/>
            <a:ext cx="3749040" cy="41148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39328" y="3593592"/>
            <a:ext cx="3017520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OutOfSync &gt; 10 min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1329416" y="3611880"/>
            <a:ext cx="640080" cy="320040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1329416" y="36118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 2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357616" y="4315968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CD failure — pipeline pushed but cluster unchanged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Disaster Recovery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749808"/>
            <a:ext cx="11430000" cy="36576"/>
          </a:xfrm>
          <a:prstGeom prst="rect">
            <a:avLst/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14400"/>
            <a:ext cx="2743200" cy="201168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058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65760" y="15087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Hours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65760" y="21488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Time Objective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rebuild entire cluster from scratch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1840" y="914400"/>
            <a:ext cx="2743200" cy="2011680"/>
          </a:xfrm>
          <a:prstGeom prst="rect">
            <a:avLst/>
          </a:prstGeom>
          <a:solidFill>
            <a:srgbClr val="1A7A3A"/>
          </a:solidFill>
          <a:ln w="12700">
            <a:solidFill>
              <a:srgbClr val="1A7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0058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RPO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291840" y="15087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Minutes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291840" y="21488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Point Objective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A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data loss — services are stateless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0" y="91440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Scenarios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0" y="1325880"/>
            <a:ext cx="5486400" cy="1051560"/>
          </a:xfrm>
          <a:prstGeom prst="rect">
            <a:avLst/>
          </a:prstGeom>
          <a:solidFill>
            <a:srgbClr val="D5E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136245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node failure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92240" y="1673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reschedules automatically — no action needed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0" y="2468880"/>
            <a:ext cx="54864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50545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crash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rollout restart the ArgoCD deployments — 2 minutes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0" y="3611880"/>
            <a:ext cx="5486400" cy="1051560"/>
          </a:xfrm>
          <a:prstGeom prst="rect">
            <a:avLst/>
          </a:prstGeom>
          <a:solidFill>
            <a:srgbClr val="D5E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364845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cluster loss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92240" y="3959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from IaC → reinstall ArgoCD → reconnect GitHub → ArgoCD syncs all apps from Git (45-90 min)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0" y="4754880"/>
            <a:ext cx="54864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0" y="479145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Azure outage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92240" y="5102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residual risk — rebuild in alternate region if needed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65760" y="3063240"/>
            <a:ext cx="5669280" cy="4572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081528"/>
            <a:ext cx="5669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Zero Data Loss?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65760" y="3566160"/>
            <a:ext cx="56692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microservices are stateless REST APIs with no database. The only state is the code and configuration — both stored in GitHub, which is unaffected by an AKS failure. A cluster rebuild from Git recreates the exact same running state.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Architectural Decisions — Why We Chose What We Chose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749808"/>
            <a:ext cx="11430000" cy="36576"/>
          </a:xfrm>
          <a:prstGeom prst="rect">
            <a:avLst/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60120"/>
            <a:ext cx="11430000" cy="1234440"/>
          </a:xfrm>
          <a:prstGeom prst="rect">
            <a:avLst/>
          </a:prstGeom>
          <a:solidFill>
            <a:srgbClr val="D5E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058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platform?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08960" y="1005840"/>
            <a:ext cx="1645920" cy="5029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08960" y="100584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AKS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92040" y="996696"/>
            <a:ext cx="6766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option supporting ArgoCD natively + required by project brief. Full NetworkPolicy and pod-security control.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331720"/>
            <a:ext cx="114300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774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delivery tool?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108960" y="2377440"/>
            <a:ext cx="1645920" cy="5029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08960" y="237744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ArgoCD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92040" y="2368296"/>
            <a:ext cx="6766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pull model with self-healing. Visual UI to demonstrate sync. Referenced in project guide. Flux rejected for steeper learning curve.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703320"/>
            <a:ext cx="11430000" cy="1234440"/>
          </a:xfrm>
          <a:prstGeom prst="rect">
            <a:avLst/>
          </a:prstGeom>
          <a:solidFill>
            <a:srgbClr val="D5E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7490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platform?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108960" y="3749040"/>
            <a:ext cx="1645920" cy="5029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08960" y="374904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Azure DevOps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92040" y="3739896"/>
            <a:ext cx="6766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by project brief. Native Azure integration (ACR, Key Vault, AKS built-in). Free tier sufficient.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5074920"/>
            <a:ext cx="114300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51206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management?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108960" y="5120640"/>
            <a:ext cx="1645920" cy="5029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08960" y="512064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Azure Key Vault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92040" y="5111496"/>
            <a:ext cx="6766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Hardcoded secrets rejected (permanent in Git history). Pipeline variables visible to admins with no audit log. Key Vault: RBAC-controlled, audited, rotation without code change.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Demonstration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749808"/>
            <a:ext cx="11430000" cy="36576"/>
          </a:xfrm>
          <a:prstGeom prst="rect">
            <a:avLst/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60120"/>
            <a:ext cx="5760720" cy="1600200"/>
          </a:xfrm>
          <a:prstGeom prst="rect">
            <a:avLst/>
          </a:prstGeom>
          <a:solidFill>
            <a:srgbClr val="D5E8F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51560"/>
            <a:ext cx="594360" cy="59436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0515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70432" y="106984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running pods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70432" y="150876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get pods -n microservices — all Running, 2 replicas each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55080" y="960120"/>
            <a:ext cx="5760720" cy="1600200"/>
          </a:xfrm>
          <a:prstGeom prst="rect">
            <a:avLst/>
          </a:prstGeom>
          <a:solidFill>
            <a:srgbClr val="D5E8F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46520" y="1051560"/>
            <a:ext cx="594360" cy="59436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0515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159752" y="106984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three live endpoints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159752" y="150876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curl http://&lt;IP&gt;/health on each service — returns {status: healthy}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2697480"/>
            <a:ext cx="5760720" cy="1600200"/>
          </a:xfrm>
          <a:prstGeom prst="rect">
            <a:avLst/>
          </a:prstGeom>
          <a:solidFill>
            <a:srgbClr val="D5E8F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788920"/>
            <a:ext cx="594360" cy="59436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7889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70432" y="280720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a CI pipeline run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70432" y="324612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 code change — show all 6 stages running in Azure DevOps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55080" y="2697480"/>
            <a:ext cx="5760720" cy="1600200"/>
          </a:xfrm>
          <a:prstGeom prst="rect">
            <a:avLst/>
          </a:prstGeom>
          <a:solidFill>
            <a:srgbClr val="D5E8F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46520" y="2788920"/>
            <a:ext cx="594360" cy="59436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46520" y="27889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159752" y="280720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ArgoCD auto-sync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159752" y="324612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UI updates to show Synced + Healthy as CD pipeline completes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434840"/>
            <a:ext cx="5760720" cy="1600200"/>
          </a:xfrm>
          <a:prstGeom prst="rect">
            <a:avLst/>
          </a:prstGeom>
          <a:solidFill>
            <a:srgbClr val="D5E8F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526280"/>
            <a:ext cx="594360" cy="59436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45262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70432" y="454456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self-healing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70432" y="498348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delete pod &lt;pod&gt; — Kubernetes and ArgoCD both restore it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355080" y="4434840"/>
            <a:ext cx="5760720" cy="1600200"/>
          </a:xfrm>
          <a:prstGeom prst="rect">
            <a:avLst/>
          </a:prstGeom>
          <a:solidFill>
            <a:srgbClr val="D5E8F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46520" y="4526280"/>
            <a:ext cx="594360" cy="59436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46520" y="45262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159752" y="454456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Azure Monitor alerts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159752" y="498348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Portal → Monitor → Alerts — 6 configured rules visible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162E55"/>
          </a:solidFill>
          <a:ln w="12700">
            <a:solidFill>
              <a:srgbClr val="162E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Achieved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286000" y="1005840"/>
            <a:ext cx="7589520" cy="45720"/>
          </a:xfrm>
          <a:prstGeom prst="rect">
            <a:avLst/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234440"/>
            <a:ext cx="1463040" cy="457200"/>
          </a:xfrm>
          <a:prstGeom prst="rect">
            <a:avLst/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2344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514600" y="1252728"/>
            <a:ext cx="9235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scan gates. Container hardening. Network isolation. Zero secrets in code.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1984248"/>
            <a:ext cx="1463040" cy="457200"/>
          </a:xfrm>
          <a:prstGeom prst="rect">
            <a:avLst/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98424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14600" y="2002536"/>
            <a:ext cx="9235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manual steps from code push to running application on the cluster.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2734056"/>
            <a:ext cx="1463040" cy="457200"/>
          </a:xfrm>
          <a:prstGeom prst="rect">
            <a:avLst/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734056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14600" y="2752344"/>
            <a:ext cx="9235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state always traceable to a specific Git commit. Self-healing.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3483864"/>
            <a:ext cx="1463040" cy="457200"/>
          </a:xfrm>
          <a:prstGeom prst="rect">
            <a:avLst/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483864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514600" y="3502152"/>
            <a:ext cx="9235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automated alerts + KQL query library for every failure scenario.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4400" y="4233672"/>
            <a:ext cx="1463040" cy="457200"/>
          </a:xfrm>
          <a:prstGeom prst="rect">
            <a:avLst/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233672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514600" y="4251960"/>
            <a:ext cx="9235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2-hour RTO, zero data loss, documented and testable DR runbook.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521208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 — Cloud Engineering — May 2026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566928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Chiemela Uwaga  |  Bolarinwa Gbenga Akinde  |  Ayobami Edun  |  Osahon Igbogbo  |  Emmanuel Ohuoha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2026-05-26T11:43:14Z</dcterms:created>
  <dcterms:modified xsi:type="dcterms:W3CDTF">2026-05-26T11:43:14Z</dcterms:modified>
</cp:coreProperties>
</file>